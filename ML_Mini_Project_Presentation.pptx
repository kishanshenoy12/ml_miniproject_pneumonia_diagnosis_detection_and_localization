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a07596a-774b-5598-38b7-6dc6bcbae8e4}">
          <p14:sldIdLst>
            <p14:sldId id="256"/>
            <p14:sldId id="257"/>
          </p14:sldIdLst>
        </p14:section>
        <p14:section name="Approach" id="{90f7b8a5-3909-befc-7144-54daaee5c5d0}">
          <p14:sldIdLst>
            <p14:sldId id="258"/>
            <p14:sldId id="261"/>
            <p14:sldId id="262"/>
          </p14:sldIdLst>
        </p14:section>
        <p14:section name="Data" id="{22539555-1334-da64-f472-c3eb8a20de34}">
          <p14:sldIdLst>
            <p14:sldId id="259"/>
            <p14:sldId id="260"/>
          </p14:sldIdLst>
        </p14:section>
        <p14:section name="Approach" id="{de0b555d-8794-fa82-a3a2-852770f4c1ea}">
          <p14:sldIdLst/>
        </p14:section>
        <p14:section name="Results" id="{29320c65-21d0-5b54-7b80-09f06cadcef9}">
          <p14:sldIdLst>
            <p14:sldId id="263"/>
            <p14:sldId id="264"/>
            <p14:sldId id="265"/>
            <p14:sldId id="266"/>
          </p14:sldIdLst>
        </p14:section>
        <p14:section name="Wrap-up" id="{41d216f9-1042-e111-4b01-35ea8682f565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B33"/>
                </a:solidFill>
                <a:latin typeface="+mn-lt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6FB3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B3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B3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FB3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8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SVM</c:v>
                  </c:pt>
                  <c:pt idx="3">
                    <c:v>CNN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83.32</c:v>
                </c:pt>
                <c:pt idx="1">
                  <c:v>87.96</c:v>
                </c:pt>
                <c:pt idx="2">
                  <c:v>88.7</c:v>
                </c:pt>
                <c:pt idx="3">
                  <c:v>89.24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C9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2B33"/>
                </a:solidFill>
                <a:latin typeface="+mn-lt"/>
              </a:rPr>
              <a:t>Mean IoU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</c:v>
                </c:pt>
              </c:strCache>
            </c:strRef>
          </c:tx>
          <c:spPr>
            <a:solidFill>
              <a:srgbClr val="6FB3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Paper: R-CNN (supervised)</c:v>
                  </c:pt>
                  <c:pt idx="1">
                    <c:v>Paper: CNN + CAM</c:v>
                  </c:pt>
                  <c:pt idx="2">
                    <c:v>Ours: CNN + CAM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0.1266</c:v>
                </c:pt>
                <c:pt idx="1">
                  <c:v>0.1508</c:v>
                </c:pt>
                <c:pt idx="2">
                  <c:v>0.2167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b"/>
        <c:majorGridlines>
          <c:spPr>
            <a:ln w="6350" cap="flat">
              <a:solidFill>
                <a:srgbClr val="DD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C9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we only tell the model whether an X-ray has pneumonia, yet it can still draw a box around the infection.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numbers are from the paper we re-implement (Huang, Cortes, Monam).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accuracy gain over SVM is small. The paper reports 92.5% for its CNN; ours is 89.2%. The real value of the CNN is that CAM gives us localisation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values: CNN+CAM 0.1508, R-CNN 0.1266. Our IoU 0.2167 was measured on true-positive images only and with union-of-boxes IoU, so do not claim we beat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two best demo images (P above 0.9, box on a sensible spot) with add_demo_images.py. If asked about failures, mention a missed case with P about 0.3 where no box is drawn.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B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B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ung-left"/>
          <p:cNvSpPr/>
          <p:nvPr/>
        </p:nvSpPr>
        <p:spPr>
          <a:xfrm>
            <a:off x="5760720" y="822960"/>
            <a:ext cx="3108960" cy="310896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3" name="opacity-blob"/>
          <p:cNvSpPr/>
          <p:nvPr/>
        </p:nvSpPr>
        <p:spPr>
          <a:xfrm>
            <a:off x="7223760" y="1371600"/>
            <a:ext cx="1737360" cy="2560320"/>
          </a:xfrm>
          <a:prstGeom prst="ellipse">
            <a:avLst/>
          </a:prstGeom>
          <a:solidFill>
            <a:schemeClr val="accent2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UE24CS352A · MACHINE LEARNING MINI-PROJECT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Weakly Supervised Pneumonia Localization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Finding where pneumonia is on a chest X-ray, using only yes/no labels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Kishan Shenoy  ·  Khushi Patel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B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matters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146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 hospitalisations per year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371600"/>
            <a:ext cx="25146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deaths in children under 5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371600"/>
            <a:ext cx="25146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08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bounding boxes in most hospital records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Chest X-rays are the best tool for diagnosing pneumonia, but records store only the final diagnosis, not the pixel location of the opacity.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Supervised localisation (R-CNN) needs box labels that datasets lack, so we need a way around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weak labels in, boxes out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377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CNN learns pneumonia vs normal from yes/no labels only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971800" y="23317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3291840" y="1463040"/>
            <a:ext cx="2377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"/>
          <p:cNvSpPr/>
          <p:nvPr/>
        </p:nvSpPr>
        <p:spPr>
          <a:xfrm>
            <a:off x="34747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43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pixels drove the 'pneumonia' decision?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715000" y="23317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ard"/>
          <p:cNvSpPr/>
          <p:nvPr/>
        </p:nvSpPr>
        <p:spPr>
          <a:xfrm>
            <a:off x="6035040" y="1463040"/>
            <a:ext cx="2377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432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Heat-map becomes bounding boxes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That is weakly supervised localisation: weak labels (yes/no), strong output (a box). The tool that answers step 2 is the Class Activation Map (CAM).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RSNA Pneumonia (Kaggle)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14,863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images after cleaning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6,012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pneumonia (40.4%)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3258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8,851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(59.6%)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DICOM X-rays, 1024×1024; boxes exist only for pneumonia cases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Dropped the ambiguous 'No Lung Opacity / Not Normal' class (as in the paper)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Stratified split 70 / 20 / 10 → 1,487 test images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Boxes used only for evaluation, never for training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2-channel input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8745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Resize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1024² → 128²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faster training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606040" y="1371600"/>
            <a:ext cx="18745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per-pixel mean / std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training set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371600"/>
            <a:ext cx="18745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 mask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Otsu threshold isolates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lung region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20840" y="1371600"/>
            <a:ext cx="18745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channels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original + masked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stacked as input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 two channels? The mask alone loses dense, severely infected lung (it can look like tissue); the original alone makes the model highlight ribs and equipment. Together they give the best localisation (paper's finding).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10 conv layers, GAP, one FC layer</a:t>
            </a:r>
            <a:endParaRPr lang="en-US" sz="3200" dirty="0"/>
          </a:p>
        </p:txBody>
      </p:sp>
      <p:sp>
        <p:nvSpPr>
          <p:cNvPr id="3" name="block"/>
          <p:cNvSpPr/>
          <p:nvPr/>
        </p:nvSpPr>
        <p:spPr>
          <a:xfrm>
            <a:off x="411480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2×128×128</a:t>
            </a:r>
            <a:endParaRPr lang="en-US" sz="1200" dirty="0"/>
          </a:p>
        </p:txBody>
      </p:sp>
      <p:sp>
        <p:nvSpPr>
          <p:cNvPr id="5" name="block"/>
          <p:cNvSpPr/>
          <p:nvPr/>
        </p:nvSpPr>
        <p:spPr>
          <a:xfrm>
            <a:off x="1627632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27632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conv · 32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 pool</a:t>
            </a:r>
            <a:endParaRPr lang="en-US" sz="1200" dirty="0"/>
          </a:p>
        </p:txBody>
      </p:sp>
      <p:sp>
        <p:nvSpPr>
          <p:cNvPr id="7" name="block"/>
          <p:cNvSpPr/>
          <p:nvPr/>
        </p:nvSpPr>
        <p:spPr>
          <a:xfrm>
            <a:off x="2843784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43784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conv · 64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 pool</a:t>
            </a:r>
            <a:endParaRPr lang="en-US" sz="1200" dirty="0"/>
          </a:p>
        </p:txBody>
      </p:sp>
      <p:sp>
        <p:nvSpPr>
          <p:cNvPr id="9" name="block"/>
          <p:cNvSpPr/>
          <p:nvPr/>
        </p:nvSpPr>
        <p:spPr>
          <a:xfrm>
            <a:off x="4059936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59936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conv · 128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 pool</a:t>
            </a:r>
            <a:endParaRPr lang="en-US" sz="1200" dirty="0"/>
          </a:p>
        </p:txBody>
      </p:sp>
      <p:sp>
        <p:nvSpPr>
          <p:cNvPr id="11" name="block"/>
          <p:cNvSpPr/>
          <p:nvPr/>
        </p:nvSpPr>
        <p:spPr>
          <a:xfrm>
            <a:off x="5276088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conv · 256</a:t>
            </a:r>
            <a:endParaRPr lang="en-US" sz="1200" dirty="0"/>
          </a:p>
        </p:txBody>
      </p:sp>
      <p:sp>
        <p:nvSpPr>
          <p:cNvPr id="13" name="block"/>
          <p:cNvSpPr/>
          <p:nvPr/>
        </p:nvSpPr>
        <p:spPr>
          <a:xfrm>
            <a:off x="6492240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Global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Avg Pool</a:t>
            </a:r>
            <a:endParaRPr lang="en-US" sz="1200" dirty="0"/>
          </a:p>
        </p:txBody>
      </p:sp>
      <p:sp>
        <p:nvSpPr>
          <p:cNvPr id="15" name="block"/>
          <p:cNvSpPr/>
          <p:nvPr/>
        </p:nvSpPr>
        <p:spPr>
          <a:xfrm>
            <a:off x="7708392" y="1371600"/>
            <a:ext cx="1051560" cy="109728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08392" y="1371600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FC →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classes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3×3 convolutions, zero padding, ReLU, batch-norm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GAP + a single FC layer is exactly what CAM needs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Adam, lr 1e-4, batch 64, 20 epochs; best validation epoch kept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Baselines: logistic regression, SVM, random forest on flattened pixels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classifier to bounding box (CAM)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Weight the last feature maps by the pneumonia-class FC weights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606040" y="137160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Heat-map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Scale to [0, 1] and threshold at 0.45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37160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clustering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 hot pixels into connected regions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20840" y="1371600"/>
            <a:ext cx="1874520" cy="22402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Min/max x,y per cluster; drop outliers (&gt; 2 std)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images the classifier calls 'pneumonia' are localised. Quality is measured with IoU = overlap area ÷ union area against the doctor-drawn box.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Classification: CNN edges out baselines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943600" y="1371600"/>
            <a:ext cx="2651760" cy="30175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say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CNN is only ~0.5 pt above SVM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 over-fits: 100% train, 88% test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The CNN's edge: it also localises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CNN is right and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Predicted normal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29768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Predicted pneumonia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Actual normal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Actual pneumonia</a:t>
            </a:r>
            <a:endParaRPr lang="en-US" sz="1200" dirty="0"/>
          </a:p>
        </p:txBody>
      </p:sp>
      <p:sp>
        <p:nvSpPr>
          <p:cNvPr id="7" name="cm-cell"/>
          <p:cNvSpPr/>
          <p:nvPr/>
        </p:nvSpPr>
        <p:spPr>
          <a:xfrm>
            <a:off x="2468880" y="1600200"/>
            <a:ext cx="1737360" cy="100584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811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TN</a:t>
            </a:r>
            <a:endParaRPr lang="en-US" sz="1600" dirty="0"/>
          </a:p>
        </p:txBody>
      </p:sp>
      <p:sp>
        <p:nvSpPr>
          <p:cNvPr id="9" name="cm-cell"/>
          <p:cNvSpPr/>
          <p:nvPr/>
        </p:nvSpPr>
        <p:spPr>
          <a:xfrm>
            <a:off x="4297680" y="1600200"/>
            <a:ext cx="1737360" cy="1005840"/>
          </a:xfrm>
          <a:prstGeom prst="rect">
            <a:avLst/>
          </a:prstGeom>
          <a:solidFill>
            <a:schemeClr val="bg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75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FP</a:t>
            </a:r>
            <a:endParaRPr lang="en-US" sz="1600" dirty="0"/>
          </a:p>
        </p:txBody>
      </p:sp>
      <p:sp>
        <p:nvSpPr>
          <p:cNvPr id="11" name="cm-cell"/>
          <p:cNvSpPr/>
          <p:nvPr/>
        </p:nvSpPr>
        <p:spPr>
          <a:xfrm>
            <a:off x="2468880" y="2697480"/>
            <a:ext cx="1737360" cy="1005840"/>
          </a:xfrm>
          <a:prstGeom prst="rect">
            <a:avLst/>
          </a:prstGeom>
          <a:solidFill>
            <a:schemeClr val="bg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85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FN</a:t>
            </a:r>
            <a:endParaRPr lang="en-US" sz="1600" dirty="0"/>
          </a:p>
        </p:txBody>
      </p:sp>
      <p:sp>
        <p:nvSpPr>
          <p:cNvPr id="13" name="cm-cell"/>
          <p:cNvSpPr/>
          <p:nvPr/>
        </p:nvSpPr>
        <p:spPr>
          <a:xfrm>
            <a:off x="4297680" y="2697480"/>
            <a:ext cx="1737360" cy="100584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516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600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Sensitivity: pneumonia caught (516 / 601)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91.5%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Specificity: normal caught (811 / 886)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85 missed pneumonia cases (FN) matter most clinically, since a missed case gets no box at 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Localisation: IoU 0.217 on detected cases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943600" y="1371600"/>
            <a:ext cx="2651760" cy="30175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Ours = union of predicted vs union of true boxes, on the 516 correctly detected 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strictly comparable with the paper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Weak labels reach a useful location with zero box supervision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CAM outputs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panel: input X-ray (left) and heat-map overlay with the predicted bounding box (right). Red = strongest evidence for pneumonia.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demo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931920" cy="1965960"/>
          </a:xfrm>
          <a:prstGeom prst="rect">
            <a:avLst/>
          </a:prstGeom>
        </p:spPr>
      </p:pic>
      <p:pic>
        <p:nvPicPr>
          <p:cNvPr id="27" name="Picture 26" descr="demo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393192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matters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paper found original + lung-mask channels beat either alone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filters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paper found big last-layer filters give imprecise boxes, so we kept 3×3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92608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past accuracy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20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confusion matrix shows 85 missed cases; simple baselines are strong too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63440" y="292608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Heuristics limit us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Otsu lung mask is crude; a trained U-Net should help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89.2% test accuracy; 85.9% of pneumonia cases caught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Mean IoU 0.217 with no bounding-box labels used in training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CAM adds localisation to any GAP + FC classifier at no extra cost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Next: U-Net lung segmentation, tuned threshold, higher resolution, pre-trained backbones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Live demo next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B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 and repository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8404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4754880" y="1325880"/>
            <a:ext cx="38404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Kishan Shenoy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and experiments: data pipeline, CNN, CAM and localisation, baselines, evaluation, demo, GitHub repository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Khushi Patel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Project report and presentation, literature review of the paper, results write-up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Private GitHub repo: ML_MiniProject_Pneumonia_Diagnosis_Detection_and_Localization (README has set-up and run steps)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Reference: Huang, Cortes, Monam. Weakly Supervised Pneumonia Localization. Data: RSNA Pneumonia Detection Challenge (Kaggle).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rayTeal">
  <a:themeElements>
    <a:clrScheme name="XrayTeal">
      <a:dk1>
        <a:srgbClr val="1A2B33"/>
      </a:dk1>
      <a:lt1>
        <a:srgbClr val="FFFFFF"/>
      </a:lt1>
      <a:dk2>
        <a:srgbClr val="0B2530"/>
      </a:dk2>
      <a:lt2>
        <a:srgbClr val="EEF3F5"/>
      </a:lt2>
      <a:accent1>
        <a:srgbClr val="1C7C8C"/>
      </a:accent1>
      <a:accent2>
        <a:srgbClr val="E08A2E"/>
      </a:accent2>
      <a:accent3>
        <a:srgbClr val="16394A"/>
      </a:accent3>
      <a:accent4>
        <a:srgbClr val="6FB3BF"/>
      </a:accent4>
      <a:accent5>
        <a:srgbClr val="B5483A"/>
      </a:accent5>
      <a:accent6>
        <a:srgbClr val="7A8C94"/>
      </a:accent6>
      <a:hlink>
        <a:srgbClr val="1C7C8C"/>
      </a:hlink>
      <a:folHlink>
        <a:srgbClr val="7A8C94"/>
      </a:folHlink>
    </a:clrScheme>
    <a:fontScheme name="Xray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Weakly Supervised Pneumonia Localization</dc:title>
  <dc:subject>PptxGenJS Presentation</dc:subject>
  <dc:creator>Kishan Shenoy, Khushi Patel</dc:creator>
  <cp:lastModifiedBy>Kishan Shenoy, Khushi Patel</cp:lastModifiedBy>
  <cp:revision>1</cp:revision>
  <dcterms:created xsi:type="dcterms:W3CDTF">2026-10-14T02:46:28Z</dcterms:created>
  <dcterms:modified xsi:type="dcterms:W3CDTF">2026-10-14T02:46:28Z</dcterms:modified>
</cp:coreProperties>
</file>